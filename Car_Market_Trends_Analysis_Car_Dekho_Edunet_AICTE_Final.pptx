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jfif"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2"/>
  </p:notesMasterIdLst>
  <p:handoutMasterIdLst>
    <p:handoutMasterId r:id="rId13"/>
  </p:handoutMasterIdLst>
  <p:sldIdLst>
    <p:sldId id="338" r:id="rId5"/>
    <p:sldId id="327" r:id="rId6"/>
    <p:sldId id="315" r:id="rId7"/>
    <p:sldId id="329" r:id="rId8"/>
    <p:sldId id="302" r:id="rId9"/>
    <p:sldId id="339" r:id="rId10"/>
    <p:sldId id="30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69" d="100"/>
          <a:sy n="69" d="100"/>
        </p:scale>
        <p:origin x="484" y="4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12/29/2023</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12/29/2023</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12/29/2023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12/29/2023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12/29/2023</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12/29/2023</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 Id="rId3" Type="http://schemas.openxmlformats.org/officeDocument/2006/relationships/image" Target="../media/image1.jf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hyperlink" Target="abc" TargetMode="Externa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wrap="square" anchor="ctr" lIns="36576" rIns="36576" tIns="36576" bIns="36576"/>
          <a:lstStyle/>
          <a:p>
            <a:pPr algn="ctr"/>
            <a:r>
              <a:rPr sz="2200" b="1">
                <a:solidFill>
                  <a:srgbClr val="12202F"/>
                </a:solidFill>
                <a:latin typeface="Aptos"/>
              </a:rPr>
              <a:t>Shruti Gangadhar Kale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3"/>
            <a:ext cx="4998720" cy="743448"/>
          </a:xfrm>
        </p:spPr>
        <p:txBody>
          <a:bodyPr wrap="square" anchor="ctr" lIns="36576" rIns="36576" tIns="36576" bIns="36576">
            <a:normAutofit/>
          </a:bodyPr>
          <a:lstStyle/>
          <a:p>
            <a:pPr algn="l"/>
            <a:r>
              <a:rPr sz="2800" b="1">
                <a:solidFill>
                  <a:srgbClr val="12202F"/>
                </a:solidFill>
                <a:latin typeface="Aptos"/>
              </a:rPr>
              <a:t>Car Market Trends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36576" tIns="36576" rIns="36576" bIns="36576" rtlCol="0" wrap="square" anchor="t">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600" b="0">
                <a:solidFill>
                  <a:srgbClr val="4A5568"/>
                </a:solidFill>
                <a:latin typeface="Aptos"/>
              </a:rPr>
              <a:t>Using Car Dekho Data
Python • Pandas • NumPy • Matplotlib</a:t>
            </a:r>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3" name="Rounded Rectangle 32"/>
          <p:cNvSpPr/>
          <p:nvPr/>
        </p:nvSpPr>
        <p:spPr>
          <a:xfrm>
            <a:off x="5989320" y="4919472"/>
            <a:ext cx="4343400" cy="987552"/>
          </a:xfrm>
          <a:prstGeom prst="roundRect">
            <a:avLst/>
          </a:prstGeom>
          <a:solidFill>
            <a:srgbClr val="F5F8FB"/>
          </a:solidFill>
          <a:ln>
            <a:solidFill>
              <a:srgbClr val="CFDDEA"/>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Bef>
                <a:spcPts val="0"/>
              </a:spcBef>
              <a:spcAft>
                <a:spcPts val="100"/>
              </a:spcAft>
            </a:pPr>
            <a:r>
              <a:rPr sz="1700" b="1">
                <a:solidFill>
                  <a:srgbClr val="1F3146"/>
                </a:solidFill>
              </a:rPr>
              <a:t>Edunet Foundation – AICTE Internship</a:t>
            </a:r>
          </a:p>
          <a:p>
            <a:pPr algn="ctr">
              <a:spcAft>
                <a:spcPts val="100"/>
              </a:spcAft>
            </a:pPr>
            <a:r>
              <a:rPr sz="950" b="0">
                <a:solidFill>
                  <a:srgbClr val="1F3146"/>
                </a:solidFill>
              </a:rPr>
              <a:t>Internship ID: INTERNSHIP_17830691666a4779eecfe8a</a:t>
            </a:r>
          </a:p>
          <a:p>
            <a:pPr algn="ctr">
              <a:spcAft>
                <a:spcPts val="100"/>
              </a:spcAft>
            </a:pPr>
            <a:r>
              <a:rPr sz="950" b="0">
                <a:solidFill>
                  <a:srgbClr val="1F3146"/>
                </a:solidFill>
              </a:rPr>
              <a:t>STU ID: STU6a6a57e2817f71785354210</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lstStyle/>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wrap="square" anchor="ctr" lIns="36576" rIns="36576" tIns="36576" bIns="36576">
            <a:normAutofit fontScale="90000"/>
          </a:bodyPr>
          <a:lstStyle/>
          <a:p>
            <a:pPr algn="l"/>
            <a:r>
              <a:rPr sz="3000" b="1">
                <a:solidFill>
                  <a:srgbClr val="12202F"/>
                </a:solidFill>
                <a:latin typeface="Aptos"/>
              </a:rPr>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17" name="Rectangle 16"/>
          <p:cNvSpPr/>
          <p:nvPr/>
        </p:nvSpPr>
        <p:spPr>
          <a:xfrm>
            <a:off x="914400" y="1600200"/>
            <a:ext cx="6583680" cy="21488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1800" b="0">
                <a:solidFill>
                  <a:srgbClr val="12202F"/>
                </a:solidFill>
                <a:latin typeface="Aptos"/>
              </a:rPr>
              <a:t>Used-car prices vary with vehicle age, usage, fuel type, seller type, transmission and ownership.
The objective of this project is to analyze the Car Dekho dataset and identify meaningful patterns in vehicle prices and market characteristics.</a:t>
            </a:r>
          </a:p>
        </p:txBody>
      </p:sp>
      <p:sp>
        <p:nvSpPr>
          <p:cNvPr id="18" name="Rounded Rectangle 17"/>
          <p:cNvSpPr/>
          <p:nvPr/>
        </p:nvSpPr>
        <p:spPr>
          <a:xfrm>
            <a:off x="914400" y="3703320"/>
            <a:ext cx="6766560" cy="1965960"/>
          </a:xfrm>
          <a:prstGeom prst="round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36576" tIns="36576" bIns="36576"/>
          <a:lstStyle/>
          <a:p>
            <a:pPr algn="ctr">
              <a:lnSpc>
                <a:spcPct val="110000"/>
              </a:lnSpc>
              <a:spcAft>
                <a:spcPts val="500"/>
              </a:spcAft>
              <a:defRPr sz="1600">
                <a:solidFill>
                  <a:srgbClr val="12202F"/>
                </a:solidFill>
                <a:latin typeface="Aptos"/>
              </a:defRPr>
            </a:pPr>
            <a:r>
              <a:t>• Understand the structure and quality of the dataset</a:t>
            </a:r>
          </a:p>
          <a:p>
            <a:pPr>
              <a:lnSpc>
                <a:spcPct val="110000"/>
              </a:lnSpc>
              <a:spcAft>
                <a:spcPts val="500"/>
              </a:spcAft>
              <a:defRPr sz="1600">
                <a:solidFill>
                  <a:srgbClr val="12202F"/>
                </a:solidFill>
                <a:latin typeface="Aptos"/>
              </a:defRPr>
            </a:pPr>
            <a:r>
              <a:t>• Measure price ranges and average selling prices</a:t>
            </a:r>
          </a:p>
          <a:p>
            <a:pPr>
              <a:lnSpc>
                <a:spcPct val="110000"/>
              </a:lnSpc>
              <a:spcAft>
                <a:spcPts val="500"/>
              </a:spcAft>
              <a:defRPr sz="1600">
                <a:solidFill>
                  <a:srgbClr val="12202F"/>
                </a:solidFill>
                <a:latin typeface="Aptos"/>
              </a:defRPr>
            </a:pPr>
            <a:r>
              <a:t>• Compare fuel, seller, transmission and ownership patterns</a:t>
            </a:r>
          </a:p>
          <a:p>
            <a:pPr>
              <a:lnSpc>
                <a:spcPct val="110000"/>
              </a:lnSpc>
              <a:spcAft>
                <a:spcPts val="500"/>
              </a:spcAft>
              <a:defRPr sz="1600">
                <a:solidFill>
                  <a:srgbClr val="12202F"/>
                </a:solidFill>
                <a:latin typeface="Aptos"/>
              </a:defRPr>
            </a:pPr>
            <a:r>
              <a:t>• Explore relationships between price, kilometres and vehicle year</a:t>
            </a:r>
          </a:p>
        </p:txBody>
      </p:sp>
      <p:sp>
        <p:nvSpPr>
          <p:cNvPr id="19" name="Rounded Rectangle 18"/>
          <p:cNvSpPr/>
          <p:nvPr/>
        </p:nvSpPr>
        <p:spPr>
          <a:xfrm>
            <a:off x="7269480" y="1325880"/>
            <a:ext cx="1965960" cy="914400"/>
          </a:xfrm>
          <a:prstGeom prst="roundRect">
            <a:avLst/>
          </a:prstGeom>
          <a:solidFill>
            <a:srgbClr val="E8F5FF"/>
          </a:solidFill>
          <a:ln>
            <a:solidFill>
              <a:srgbClr val="B9D9F4"/>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600" b="1">
                <a:solidFill>
                  <a:srgbClr val="0970C7"/>
                </a:solidFill>
                <a:latin typeface="Aptos"/>
              </a:rPr>
              <a:t>Data-driven
market insights</a:t>
            </a:r>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wrap="square" anchor="ctr" lIns="36576" rIns="36576" tIns="36576" bIns="36576">
            <a:normAutofit fontScale="90000"/>
          </a:bodyPr>
          <a:lstStyle/>
          <a:p>
            <a:pPr algn="l"/>
            <a:r>
              <a:rPr sz="2800" b="1">
                <a:solidFill>
                  <a:srgbClr val="12202F"/>
                </a:solidFill>
                <a:latin typeface="Aptos"/>
              </a:rPr>
              <a:t>Project Description</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Rectangle 9"/>
          <p:cNvSpPr/>
          <p:nvPr/>
        </p:nvSpPr>
        <p:spPr>
          <a:xfrm>
            <a:off x="685800" y="1417320"/>
            <a:ext cx="8458200" cy="1325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1700" b="0">
                <a:solidFill>
                  <a:srgbClr val="12202F"/>
                </a:solidFill>
                <a:latin typeface="Aptos"/>
              </a:rPr>
              <a:t>This project performs exploratory data analysis on the provided Car Dekho dataset using Python in Google Colab. The workflow includes data loading, structure inspection, missing-value checking, descriptive statistics, categorical analysis, price analysis and visualization.</a:t>
            </a:r>
          </a:p>
        </p:txBody>
      </p:sp>
      <p:sp>
        <p:nvSpPr>
          <p:cNvPr id="11" name="Rounded Rectangle 10"/>
          <p:cNvSpPr/>
          <p:nvPr/>
        </p:nvSpPr>
        <p:spPr>
          <a:xfrm>
            <a:off x="731520" y="2971800"/>
            <a:ext cx="1847088" cy="1417320"/>
          </a:xfrm>
          <a:prstGeom prst="roundRect">
            <a:avLst/>
          </a:prstGeom>
          <a:solidFill>
            <a:srgbClr val="F5F8FB"/>
          </a:solidFill>
          <a:ln>
            <a:solidFill>
              <a:srgbClr val="D6E1EC"/>
            </a:solid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2600" b="1">
                <a:solidFill>
                  <a:srgbClr val="0970C7"/>
                </a:solidFill>
                <a:latin typeface="Aptos Display"/>
              </a:rPr>
              <a:t>301</a:t>
            </a:r>
          </a:p>
          <a:p>
            <a:pPr algn="ctr"/>
            <a:r>
              <a:rPr sz="1300">
                <a:solidFill>
                  <a:srgbClr val="4A5568"/>
                </a:solidFill>
                <a:latin typeface="Aptos"/>
              </a:rPr>
              <a:t>records</a:t>
            </a:r>
          </a:p>
        </p:txBody>
      </p:sp>
      <p:sp>
        <p:nvSpPr>
          <p:cNvPr id="12" name="Rounded Rectangle 11"/>
          <p:cNvSpPr/>
          <p:nvPr/>
        </p:nvSpPr>
        <p:spPr>
          <a:xfrm>
            <a:off x="2816352" y="2971800"/>
            <a:ext cx="1847088" cy="1417320"/>
          </a:xfrm>
          <a:prstGeom prst="roundRect">
            <a:avLst/>
          </a:prstGeom>
          <a:solidFill>
            <a:srgbClr val="F5F8FB"/>
          </a:solidFill>
          <a:ln>
            <a:solidFill>
              <a:srgbClr val="D6E1EC"/>
            </a:solid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2600" b="1">
                <a:solidFill>
                  <a:srgbClr val="0970C7"/>
                </a:solidFill>
                <a:latin typeface="Aptos Display"/>
              </a:rPr>
              <a:t>9</a:t>
            </a:r>
          </a:p>
          <a:p>
            <a:pPr algn="ctr"/>
            <a:r>
              <a:rPr sz="1300">
                <a:solidFill>
                  <a:srgbClr val="4A5568"/>
                </a:solidFill>
                <a:latin typeface="Aptos"/>
              </a:rPr>
              <a:t>variables</a:t>
            </a:r>
          </a:p>
        </p:txBody>
      </p:sp>
      <p:sp>
        <p:nvSpPr>
          <p:cNvPr id="13" name="Rounded Rectangle 12"/>
          <p:cNvSpPr/>
          <p:nvPr/>
        </p:nvSpPr>
        <p:spPr>
          <a:xfrm>
            <a:off x="4901183" y="2971800"/>
            <a:ext cx="1847088" cy="1417320"/>
          </a:xfrm>
          <a:prstGeom prst="roundRect">
            <a:avLst/>
          </a:prstGeom>
          <a:solidFill>
            <a:srgbClr val="F5F8FB"/>
          </a:solidFill>
          <a:ln>
            <a:solidFill>
              <a:srgbClr val="D6E1EC"/>
            </a:solid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2600" b="1">
                <a:solidFill>
                  <a:srgbClr val="0970C7"/>
                </a:solidFill>
                <a:latin typeface="Aptos Display"/>
              </a:rPr>
              <a:t>98</a:t>
            </a:r>
          </a:p>
          <a:p>
            <a:pPr algn="ctr"/>
            <a:r>
              <a:rPr sz="1300">
                <a:solidFill>
                  <a:srgbClr val="4A5568"/>
                </a:solidFill>
                <a:latin typeface="Aptos"/>
              </a:rPr>
              <a:t>different car names</a:t>
            </a:r>
          </a:p>
        </p:txBody>
      </p:sp>
      <p:sp>
        <p:nvSpPr>
          <p:cNvPr id="14" name="Rounded Rectangle 13"/>
          <p:cNvSpPr/>
          <p:nvPr/>
        </p:nvSpPr>
        <p:spPr>
          <a:xfrm>
            <a:off x="6986016" y="2971800"/>
            <a:ext cx="1847088" cy="1417320"/>
          </a:xfrm>
          <a:prstGeom prst="roundRect">
            <a:avLst/>
          </a:prstGeom>
          <a:solidFill>
            <a:srgbClr val="F5F8FB"/>
          </a:solidFill>
          <a:ln>
            <a:solidFill>
              <a:srgbClr val="D6E1EC"/>
            </a:solid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2600" b="1">
                <a:solidFill>
                  <a:srgbClr val="0970C7"/>
                </a:solidFill>
                <a:latin typeface="Aptos Display"/>
              </a:rPr>
              <a:t>0</a:t>
            </a:r>
          </a:p>
          <a:p>
            <a:pPr algn="ctr"/>
            <a:r>
              <a:rPr sz="1300">
                <a:solidFill>
                  <a:srgbClr val="4A5568"/>
                </a:solidFill>
                <a:latin typeface="Aptos"/>
              </a:rPr>
              <a:t>missing values</a:t>
            </a:r>
          </a:p>
        </p:txBody>
      </p:sp>
      <p:sp>
        <p:nvSpPr>
          <p:cNvPr id="15" name="Rectangle 14"/>
          <p:cNvSpPr/>
          <p:nvPr/>
        </p:nvSpPr>
        <p:spPr>
          <a:xfrm>
            <a:off x="777240" y="4709160"/>
            <a:ext cx="128016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1600" b="1">
                <a:solidFill>
                  <a:srgbClr val="0970C7"/>
                </a:solidFill>
                <a:latin typeface="Aptos"/>
              </a:rPr>
              <a:t>Data fields</a:t>
            </a:r>
          </a:p>
        </p:txBody>
      </p:sp>
      <p:sp>
        <p:nvSpPr>
          <p:cNvPr id="16" name="Rectangle 15"/>
          <p:cNvSpPr/>
          <p:nvPr/>
        </p:nvSpPr>
        <p:spPr>
          <a:xfrm>
            <a:off x="777240" y="5074920"/>
            <a:ext cx="8641080" cy="6858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1400" b="0">
                <a:solidFill>
                  <a:srgbClr val="4A5568"/>
                </a:solidFill>
                <a:latin typeface="Aptos"/>
              </a:rPr>
              <a:t>Car_Name • Year • Selling_Price • Present_Price • Kms_Driven • Fuel_Type • Seller_Type • Transmission • Owner</a:t>
            </a:r>
          </a:p>
        </p:txBody>
      </p:sp>
      <p:sp>
        <p:nvSpPr>
          <p:cNvPr id="17" name="Rectangle 16"/>
          <p:cNvSpPr/>
          <p:nvPr/>
        </p:nvSpPr>
        <p:spPr>
          <a:xfrm>
            <a:off x="777240" y="5806440"/>
            <a:ext cx="128016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1600" b="1">
                <a:solidFill>
                  <a:srgbClr val="0970C7"/>
                </a:solidFill>
                <a:latin typeface="Aptos"/>
              </a:rPr>
              <a:t>Price range</a:t>
            </a:r>
          </a:p>
        </p:txBody>
      </p:sp>
      <p:sp>
        <p:nvSpPr>
          <p:cNvPr id="18" name="Rectangle 17"/>
          <p:cNvSpPr/>
          <p:nvPr/>
        </p:nvSpPr>
        <p:spPr>
          <a:xfrm>
            <a:off x="1965960" y="5779008"/>
            <a:ext cx="66751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1400" b="0">
                <a:solidFill>
                  <a:srgbClr val="12202F"/>
                </a:solidFill>
                <a:latin typeface="Aptos"/>
              </a:rPr>
              <a:t>₹0.10 lakh – ₹35 lakh  |  Manufacturing years: 2003–2018</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wrap="square" anchor="ctr" lIns="36576" rIns="36576" tIns="36576" bIns="36576">
            <a:normAutofit/>
          </a:bodyPr>
          <a:lstStyle/>
          <a:p>
            <a:pPr algn="l"/>
            <a:r>
              <a:rPr sz="3000" b="1">
                <a:solidFill>
                  <a:srgbClr val="12202F"/>
                </a:solidFill>
                <a:latin typeface="Aptos"/>
              </a:rPr>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Rounded Rectangle 16"/>
          <p:cNvSpPr/>
          <p:nvPr/>
        </p:nvSpPr>
        <p:spPr>
          <a:xfrm>
            <a:off x="868680" y="1783080"/>
            <a:ext cx="2880360" cy="1874519"/>
          </a:xfrm>
          <a:prstGeom prst="roundRect">
            <a:avLst/>
          </a:prstGeom>
          <a:solidFill>
            <a:srgbClr val="FFFFFF"/>
          </a:solidFill>
          <a:ln>
            <a:solidFill>
              <a:srgbClr val="D2DF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pPr algn="ctr"/>
            <a:r>
              <a:rPr sz="1800" b="1">
                <a:solidFill>
                  <a:srgbClr val="12202F"/>
                </a:solidFill>
              </a:rPr>
              <a:t>Used-car buyers</a:t>
            </a:r>
          </a:p>
          <a:p>
            <a:pPr algn="ctr">
              <a:spcBef>
                <a:spcPts val="800"/>
              </a:spcBef>
            </a:pPr>
            <a:r>
              <a:rPr sz="1250">
                <a:solidFill>
                  <a:srgbClr val="4A5568"/>
                </a:solidFill>
              </a:rPr>
              <a:t>Compare prices and vehicle characteristics.</a:t>
            </a:r>
          </a:p>
        </p:txBody>
      </p:sp>
      <p:sp>
        <p:nvSpPr>
          <p:cNvPr id="18" name="Rectangle 17"/>
          <p:cNvSpPr/>
          <p:nvPr/>
        </p:nvSpPr>
        <p:spPr>
          <a:xfrm>
            <a:off x="868680" y="1783080"/>
            <a:ext cx="2880360" cy="109728"/>
          </a:xfrm>
          <a:prstGeom prst="rect">
            <a:avLst/>
          </a:prstGeom>
          <a:solidFill>
            <a:srgbClr val="097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160520" y="1783080"/>
            <a:ext cx="2880360" cy="1874519"/>
          </a:xfrm>
          <a:prstGeom prst="roundRect">
            <a:avLst/>
          </a:prstGeom>
          <a:solidFill>
            <a:srgbClr val="FFFFFF"/>
          </a:solidFill>
          <a:ln>
            <a:solidFill>
              <a:srgbClr val="D2DF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pPr algn="ctr"/>
            <a:r>
              <a:rPr sz="1800" b="1">
                <a:solidFill>
                  <a:srgbClr val="12202F"/>
                </a:solidFill>
              </a:rPr>
              <a:t>Car dealers</a:t>
            </a:r>
          </a:p>
          <a:p>
            <a:pPr algn="ctr">
              <a:spcBef>
                <a:spcPts val="800"/>
              </a:spcBef>
            </a:pPr>
            <a:r>
              <a:rPr sz="1250">
                <a:solidFill>
                  <a:srgbClr val="4A5568"/>
                </a:solidFill>
              </a:rPr>
              <a:t>Understand inventory mix and market pricing.</a:t>
            </a:r>
          </a:p>
        </p:txBody>
      </p:sp>
      <p:sp>
        <p:nvSpPr>
          <p:cNvPr id="20" name="Rectangle 19"/>
          <p:cNvSpPr/>
          <p:nvPr/>
        </p:nvSpPr>
        <p:spPr>
          <a:xfrm>
            <a:off x="4160520" y="1783080"/>
            <a:ext cx="2880360" cy="109728"/>
          </a:xfrm>
          <a:prstGeom prst="rect">
            <a:avLst/>
          </a:prstGeom>
          <a:solidFill>
            <a:srgbClr val="097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52360" y="1783080"/>
            <a:ext cx="2880360" cy="1874519"/>
          </a:xfrm>
          <a:prstGeom prst="roundRect">
            <a:avLst/>
          </a:prstGeom>
          <a:solidFill>
            <a:srgbClr val="FFFFFF"/>
          </a:solidFill>
          <a:ln>
            <a:solidFill>
              <a:srgbClr val="D2DF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pPr algn="ctr"/>
            <a:r>
              <a:rPr sz="1800" b="1">
                <a:solidFill>
                  <a:srgbClr val="12202F"/>
                </a:solidFill>
              </a:rPr>
              <a:t>Used-car businesses</a:t>
            </a:r>
          </a:p>
          <a:p>
            <a:pPr algn="ctr">
              <a:spcBef>
                <a:spcPts val="800"/>
              </a:spcBef>
            </a:pPr>
            <a:r>
              <a:rPr sz="1250">
                <a:solidFill>
                  <a:srgbClr val="4A5568"/>
                </a:solidFill>
              </a:rPr>
              <a:t>Support pricing and sales decisions.</a:t>
            </a:r>
          </a:p>
        </p:txBody>
      </p:sp>
      <p:sp>
        <p:nvSpPr>
          <p:cNvPr id="22" name="Rectangle 21"/>
          <p:cNvSpPr/>
          <p:nvPr/>
        </p:nvSpPr>
        <p:spPr>
          <a:xfrm>
            <a:off x="7452360" y="1783080"/>
            <a:ext cx="2880360" cy="109728"/>
          </a:xfrm>
          <a:prstGeom prst="rect">
            <a:avLst/>
          </a:prstGeom>
          <a:solidFill>
            <a:srgbClr val="097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514600" y="4069080"/>
            <a:ext cx="2880360" cy="1874519"/>
          </a:xfrm>
          <a:prstGeom prst="roundRect">
            <a:avLst/>
          </a:prstGeom>
          <a:solidFill>
            <a:srgbClr val="FFFFFF"/>
          </a:solidFill>
          <a:ln>
            <a:solidFill>
              <a:srgbClr val="D2DF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pPr algn="ctr"/>
            <a:r>
              <a:rPr sz="1800" b="1">
                <a:solidFill>
                  <a:srgbClr val="12202F"/>
                </a:solidFill>
              </a:rPr>
              <a:t>Market analysts</a:t>
            </a:r>
          </a:p>
          <a:p>
            <a:pPr algn="ctr">
              <a:spcBef>
                <a:spcPts val="800"/>
              </a:spcBef>
            </a:pPr>
            <a:r>
              <a:rPr sz="1250">
                <a:solidFill>
                  <a:srgbClr val="4A5568"/>
                </a:solidFill>
              </a:rPr>
              <a:t>Identify market patterns and segments.</a:t>
            </a:r>
          </a:p>
        </p:txBody>
      </p:sp>
      <p:sp>
        <p:nvSpPr>
          <p:cNvPr id="24" name="Rectangle 23"/>
          <p:cNvSpPr/>
          <p:nvPr/>
        </p:nvSpPr>
        <p:spPr>
          <a:xfrm>
            <a:off x="2514600" y="4069080"/>
            <a:ext cx="2880360" cy="109728"/>
          </a:xfrm>
          <a:prstGeom prst="rect">
            <a:avLst/>
          </a:prstGeom>
          <a:solidFill>
            <a:srgbClr val="097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806440" y="4069080"/>
            <a:ext cx="2880360" cy="1874519"/>
          </a:xfrm>
          <a:prstGeom prst="roundRect">
            <a:avLst/>
          </a:prstGeom>
          <a:solidFill>
            <a:srgbClr val="FFFFFF"/>
          </a:solidFill>
          <a:ln>
            <a:solidFill>
              <a:srgbClr val="D2DF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pPr algn="ctr"/>
            <a:r>
              <a:rPr sz="1800" b="1">
                <a:solidFill>
                  <a:srgbClr val="12202F"/>
                </a:solidFill>
              </a:rPr>
              <a:t>Students &amp; researchers</a:t>
            </a:r>
          </a:p>
          <a:p>
            <a:pPr algn="ctr">
              <a:spcBef>
                <a:spcPts val="800"/>
              </a:spcBef>
            </a:pPr>
            <a:r>
              <a:rPr sz="1250">
                <a:solidFill>
                  <a:srgbClr val="4A5568"/>
                </a:solidFill>
              </a:rPr>
              <a:t>Learn and demonstrate real-world data analysis.</a:t>
            </a:r>
          </a:p>
        </p:txBody>
      </p:sp>
      <p:sp>
        <p:nvSpPr>
          <p:cNvPr id="26" name="Rectangle 25"/>
          <p:cNvSpPr/>
          <p:nvPr/>
        </p:nvSpPr>
        <p:spPr>
          <a:xfrm>
            <a:off x="5806440" y="4069080"/>
            <a:ext cx="2880360" cy="109728"/>
          </a:xfrm>
          <a:prstGeom prst="rect">
            <a:avLst/>
          </a:prstGeom>
          <a:solidFill>
            <a:srgbClr val="0970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280160" y="6309360"/>
            <a:ext cx="80467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ctr"/>
            <a:r>
              <a:rPr sz="1400" b="1">
                <a:solidFill>
                  <a:srgbClr val="0970C7"/>
                </a:solidFill>
                <a:latin typeface="Aptos"/>
              </a:rPr>
              <a:t>The analysis is designed as a decision-support view of used-car market data.</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wrap="square" anchor="ctr" lIns="36576" rIns="36576" tIns="36576" bIns="36576">
            <a:normAutofit/>
          </a:bodyPr>
          <a:lstStyle/>
          <a:p>
            <a:pPr algn="l"/>
            <a:r>
              <a:rPr sz="3000" b="1">
                <a:solidFill>
                  <a:srgbClr val="12202F"/>
                </a:solidFill>
                <a:latin typeface="Aptos"/>
              </a:rPr>
              <a:t>Technology Used</a:t>
            </a:r>
            <a:endParaRPr lang="en-US" dirty="0"/>
          </a:p>
        </p:txBody>
      </p:sp>
      <p:sp>
        <p:nvSpPr>
          <p:cNvPr id="17" name="Rounded Rectangle 16"/>
          <p:cNvSpPr/>
          <p:nvPr/>
        </p:nvSpPr>
        <p:spPr>
          <a:xfrm>
            <a:off x="1874519" y="1554480"/>
            <a:ext cx="2743200" cy="1234440"/>
          </a:xfrm>
          <a:prstGeom prst="roundRect">
            <a:avLst/>
          </a:prstGeom>
          <a:solidFill>
            <a:srgbClr val="F5F8FB"/>
          </a:solidFill>
          <a:ln>
            <a:solidFill>
              <a:srgbClr val="D3E1E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700" b="1">
                <a:solidFill>
                  <a:srgbClr val="0970C7"/>
                </a:solidFill>
              </a:rPr>
              <a:t>Python</a:t>
            </a:r>
          </a:p>
          <a:p>
            <a:pPr algn="ctr">
              <a:spcBef>
                <a:spcPts val="400"/>
              </a:spcBef>
            </a:pPr>
            <a:r>
              <a:rPr sz="1150">
                <a:solidFill>
                  <a:srgbClr val="4A5568"/>
                </a:solidFill>
              </a:rPr>
              <a:t>Core programming language for analysis</a:t>
            </a:r>
          </a:p>
        </p:txBody>
      </p:sp>
      <p:sp>
        <p:nvSpPr>
          <p:cNvPr id="18" name="Rounded Rectangle 17"/>
          <p:cNvSpPr/>
          <p:nvPr/>
        </p:nvSpPr>
        <p:spPr>
          <a:xfrm>
            <a:off x="4892040" y="1554480"/>
            <a:ext cx="2743200" cy="1234440"/>
          </a:xfrm>
          <a:prstGeom prst="roundRect">
            <a:avLst/>
          </a:prstGeom>
          <a:solidFill>
            <a:srgbClr val="F5F8FB"/>
          </a:solidFill>
          <a:ln>
            <a:solidFill>
              <a:srgbClr val="D3E1E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700" b="1">
                <a:solidFill>
                  <a:srgbClr val="0970C7"/>
                </a:solidFill>
              </a:rPr>
              <a:t>Google Colab</a:t>
            </a:r>
          </a:p>
          <a:p>
            <a:pPr algn="ctr">
              <a:spcBef>
                <a:spcPts val="400"/>
              </a:spcBef>
            </a:pPr>
            <a:r>
              <a:rPr sz="1150">
                <a:solidFill>
                  <a:srgbClr val="4A5568"/>
                </a:solidFill>
              </a:rPr>
              <a:t>Cloud notebook used to run the project</a:t>
            </a:r>
          </a:p>
        </p:txBody>
      </p:sp>
      <p:sp>
        <p:nvSpPr>
          <p:cNvPr id="19" name="Rounded Rectangle 18"/>
          <p:cNvSpPr/>
          <p:nvPr/>
        </p:nvSpPr>
        <p:spPr>
          <a:xfrm>
            <a:off x="1874519" y="3154680"/>
            <a:ext cx="2743200" cy="1234440"/>
          </a:xfrm>
          <a:prstGeom prst="roundRect">
            <a:avLst/>
          </a:prstGeom>
          <a:solidFill>
            <a:srgbClr val="F5F8FB"/>
          </a:solidFill>
          <a:ln>
            <a:solidFill>
              <a:srgbClr val="D3E1E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700" b="1">
                <a:solidFill>
                  <a:srgbClr val="0970C7"/>
                </a:solidFill>
              </a:rPr>
              <a:t>Pandas</a:t>
            </a:r>
          </a:p>
          <a:p>
            <a:pPr algn="ctr">
              <a:spcBef>
                <a:spcPts val="400"/>
              </a:spcBef>
            </a:pPr>
            <a:r>
              <a:rPr sz="1150">
                <a:solidFill>
                  <a:srgbClr val="4A5568"/>
                </a:solidFill>
              </a:rPr>
              <a:t>Data loading, cleaning and analysis</a:t>
            </a:r>
          </a:p>
        </p:txBody>
      </p:sp>
      <p:sp>
        <p:nvSpPr>
          <p:cNvPr id="20" name="Rounded Rectangle 19"/>
          <p:cNvSpPr/>
          <p:nvPr/>
        </p:nvSpPr>
        <p:spPr>
          <a:xfrm>
            <a:off x="4892040" y="3154680"/>
            <a:ext cx="2743200" cy="1234440"/>
          </a:xfrm>
          <a:prstGeom prst="roundRect">
            <a:avLst/>
          </a:prstGeom>
          <a:solidFill>
            <a:srgbClr val="F5F8FB"/>
          </a:solidFill>
          <a:ln>
            <a:solidFill>
              <a:srgbClr val="D3E1E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700" b="1">
                <a:solidFill>
                  <a:srgbClr val="0970C7"/>
                </a:solidFill>
              </a:rPr>
              <a:t>NumPy</a:t>
            </a:r>
          </a:p>
          <a:p>
            <a:pPr algn="ctr">
              <a:spcBef>
                <a:spcPts val="400"/>
              </a:spcBef>
            </a:pPr>
            <a:r>
              <a:rPr sz="1150">
                <a:solidFill>
                  <a:srgbClr val="4A5568"/>
                </a:solidFill>
              </a:rPr>
              <a:t>Numerical operations and calculations</a:t>
            </a:r>
          </a:p>
        </p:txBody>
      </p:sp>
      <p:sp>
        <p:nvSpPr>
          <p:cNvPr id="21" name="Rounded Rectangle 20"/>
          <p:cNvSpPr/>
          <p:nvPr/>
        </p:nvSpPr>
        <p:spPr>
          <a:xfrm>
            <a:off x="1874519" y="4754880"/>
            <a:ext cx="2743200" cy="1234440"/>
          </a:xfrm>
          <a:prstGeom prst="roundRect">
            <a:avLst/>
          </a:prstGeom>
          <a:solidFill>
            <a:srgbClr val="F5F8FB"/>
          </a:solidFill>
          <a:ln>
            <a:solidFill>
              <a:srgbClr val="D3E1E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700" b="1">
                <a:solidFill>
                  <a:srgbClr val="0970C7"/>
                </a:solidFill>
              </a:rPr>
              <a:t>Matplotlib</a:t>
            </a:r>
          </a:p>
          <a:p>
            <a:pPr algn="ctr">
              <a:spcBef>
                <a:spcPts val="400"/>
              </a:spcBef>
            </a:pPr>
            <a:r>
              <a:rPr sz="1150">
                <a:solidFill>
                  <a:srgbClr val="4A5568"/>
                </a:solidFill>
              </a:rPr>
              <a:t>Charts and data visualizations</a:t>
            </a:r>
          </a:p>
        </p:txBody>
      </p:sp>
      <p:sp>
        <p:nvSpPr>
          <p:cNvPr id="22" name="Rounded Rectangle 21"/>
          <p:cNvSpPr/>
          <p:nvPr/>
        </p:nvSpPr>
        <p:spPr>
          <a:xfrm>
            <a:off x="4892040" y="4754880"/>
            <a:ext cx="2743200" cy="1234440"/>
          </a:xfrm>
          <a:prstGeom prst="roundRect">
            <a:avLst/>
          </a:prstGeom>
          <a:solidFill>
            <a:srgbClr val="F5F8FB"/>
          </a:solidFill>
          <a:ln>
            <a:solidFill>
              <a:srgbClr val="D3E1E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700" b="1">
                <a:solidFill>
                  <a:srgbClr val="0970C7"/>
                </a:solidFill>
              </a:rPr>
              <a:t>Analysis</a:t>
            </a:r>
          </a:p>
          <a:p>
            <a:pPr algn="ctr">
              <a:spcBef>
                <a:spcPts val="400"/>
              </a:spcBef>
            </a:pPr>
            <a:r>
              <a:rPr sz="1150">
                <a:solidFill>
                  <a:srgbClr val="4A5568"/>
                </a:solidFill>
              </a:rPr>
              <a:t>describe(), value_counts(), groupby(), sorting and plots</a:t>
            </a:r>
          </a:p>
        </p:txBody>
      </p:sp>
      <p:sp>
        <p:nvSpPr>
          <p:cNvPr id="23" name="Rectangle 22"/>
          <p:cNvSpPr/>
          <p:nvPr/>
        </p:nvSpPr>
        <p:spPr>
          <a:xfrm>
            <a:off x="1874519" y="6144768"/>
            <a:ext cx="576072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ctr"/>
            <a:r>
              <a:rPr sz="1350" b="1">
                <a:solidFill>
                  <a:srgbClr val="2EA8A0"/>
                </a:solidFill>
                <a:latin typeface="Aptos"/>
              </a:rPr>
              <a:t>Workflow: Load → Inspect → Clean → Analyze → Visualize → Interpret</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wrap="square" anchor="ctr" lIns="36576" rIns="36576" tIns="36576" bIns="36576">
            <a:normAutofit/>
          </a:bodyPr>
          <a:lstStyle/>
          <a:p>
            <a:pPr algn="l"/>
            <a:r>
              <a:rPr sz="3000" b="1">
                <a:solidFill>
                  <a:srgbClr val="12202F"/>
                </a:solidFill>
                <a:latin typeface="Aptos"/>
              </a:rPr>
              <a:t>RESULTS</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502920" y="6291072"/>
            <a:ext cx="1143000" cy="320040"/>
          </a:xfrm>
          <a:prstGeom prst="rect">
            <a:avLst/>
          </a:prstGeom>
        </p:spPr>
        <p:txBody>
          <a:bodyPr vert="horz" lIns="36576" tIns="36576" rIns="36576" bIns="36576" rtlCol="0" anchor="ctr" wrap="square">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sz="1150" b="1">
                <a:solidFill>
                  <a:srgbClr val="0970C7"/>
                </a:solidFill>
                <a:latin typeface="Aptos"/>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1" name="Picture 30" descr="Screenshot 2026-08-30 142637.png"/>
          <p:cNvPicPr>
            <a:picLocks noChangeAspect="1"/>
          </p:cNvPicPr>
          <p:nvPr/>
        </p:nvPicPr>
        <p:blipFill>
          <a:blip r:embed="rId4"/>
          <a:stretch>
            <a:fillRect/>
          </a:stretch>
        </p:blipFill>
        <p:spPr>
          <a:xfrm>
            <a:off x="411480" y="1234440"/>
            <a:ext cx="3977639" cy="2057400"/>
          </a:xfrm>
          <a:prstGeom prst="rect">
            <a:avLst/>
          </a:prstGeom>
        </p:spPr>
      </p:pic>
      <p:pic>
        <p:nvPicPr>
          <p:cNvPr id="32" name="Picture 31" descr="Screenshot 2026-08-30 142835.png"/>
          <p:cNvPicPr>
            <a:picLocks noChangeAspect="1"/>
          </p:cNvPicPr>
          <p:nvPr/>
        </p:nvPicPr>
        <p:blipFill>
          <a:blip r:embed="rId5"/>
          <a:stretch>
            <a:fillRect/>
          </a:stretch>
        </p:blipFill>
        <p:spPr>
          <a:xfrm>
            <a:off x="4526280" y="1234440"/>
            <a:ext cx="3977639" cy="2057400"/>
          </a:xfrm>
          <a:prstGeom prst="rect">
            <a:avLst/>
          </a:prstGeom>
        </p:spPr>
      </p:pic>
      <p:pic>
        <p:nvPicPr>
          <p:cNvPr id="33" name="Picture 32" descr="Screenshot 2026-08-30 142953.png"/>
          <p:cNvPicPr>
            <a:picLocks noChangeAspect="1"/>
          </p:cNvPicPr>
          <p:nvPr/>
        </p:nvPicPr>
        <p:blipFill>
          <a:blip r:embed="rId6"/>
          <a:stretch>
            <a:fillRect/>
          </a:stretch>
        </p:blipFill>
        <p:spPr>
          <a:xfrm>
            <a:off x="411480" y="3429000"/>
            <a:ext cx="3977639" cy="2057400"/>
          </a:xfrm>
          <a:prstGeom prst="rect">
            <a:avLst/>
          </a:prstGeom>
        </p:spPr>
      </p:pic>
      <p:pic>
        <p:nvPicPr>
          <p:cNvPr id="34" name="Picture 33" descr="Screenshot 2026-08-30 143455.png"/>
          <p:cNvPicPr>
            <a:picLocks noChangeAspect="1"/>
          </p:cNvPicPr>
          <p:nvPr/>
        </p:nvPicPr>
        <p:blipFill>
          <a:blip r:embed="rId7"/>
          <a:stretch>
            <a:fillRect/>
          </a:stretch>
        </p:blipFill>
        <p:spPr>
          <a:xfrm>
            <a:off x="4526280" y="3429000"/>
            <a:ext cx="3977639" cy="2057400"/>
          </a:xfrm>
          <a:prstGeom prst="rect">
            <a:avLst/>
          </a:prstGeom>
        </p:spPr>
      </p:pic>
      <p:sp>
        <p:nvSpPr>
          <p:cNvPr id="35" name="Rounded Rectangle 34"/>
          <p:cNvSpPr/>
          <p:nvPr/>
        </p:nvSpPr>
        <p:spPr>
          <a:xfrm>
            <a:off x="502920" y="5623560"/>
            <a:ext cx="8183879" cy="530352"/>
          </a:xfrm>
          <a:prstGeom prst="roundRect">
            <a:avLst/>
          </a:prstGeom>
          <a:solidFill>
            <a:srgbClr val="F1F7FC"/>
          </a:solidFill>
          <a:ln>
            <a:solidFill>
              <a:srgbClr val="D2E1EE"/>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50" b="1">
                <a:solidFill>
                  <a:srgbClr val="12202F"/>
                </a:solidFill>
                <a:latin typeface="Aptos"/>
              </a:rPr>
              <a:t>Key findings: Petrol 79.4% • Dealer sales 64.8% • Manual cars 86.7% • Highest selling price ₹35 lakh (Land Cruiser)</a:t>
            </a:r>
          </a:p>
        </p:txBody>
      </p:sp>
      <p:sp>
        <p:nvSpPr>
          <p:cNvPr id="36" name="Rectangle 35"/>
          <p:cNvSpPr/>
          <p:nvPr/>
        </p:nvSpPr>
        <p:spPr>
          <a:xfrm>
            <a:off x="1737360" y="6309360"/>
            <a:ext cx="58521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l"/>
            <a:r>
              <a:rPr sz="1050" b="0">
                <a:solidFill>
                  <a:srgbClr val="4A5568"/>
                </a:solidFill>
                <a:latin typeface="Aptos"/>
              </a:rPr>
              <a:t>Paste your Google Colab notebook URL here before submission.</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wrap="square" lIns="36576" rIns="36576" tIns="36576" bIns="36576">
            <a:normAutofit fontScale="90000"/>
          </a:bodyPr>
          <a:lstStyle/>
          <a:p>
            <a:pPr algn="ctr"/>
            <a:r>
              <a:rPr sz="3400" b="1">
                <a:solidFill>
                  <a:srgbClr val="12202F"/>
                </a:solidFill>
                <a:latin typeface="Aptos"/>
              </a:rPr>
              <a:t>Thank You</a:t>
            </a:r>
            <a:endParaRPr lang="en-US" sz="4800" b="1" dirty="0">
              <a:solidFill>
                <a:schemeClr val="tx1"/>
              </a:solidFill>
            </a:endParaRP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
        <p:nvSpPr>
          <p:cNvPr id="46" name="Rectangle 45"/>
          <p:cNvSpPr/>
          <p:nvPr/>
        </p:nvSpPr>
        <p:spPr>
          <a:xfrm>
            <a:off x="4343400" y="3246120"/>
            <a:ext cx="3474720" cy="5486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2200" b="1">
                <a:solidFill>
                  <a:srgbClr val="0970C7"/>
                </a:solidFill>
                <a:latin typeface="Aptos"/>
              </a:rPr>
              <a:t>Questions?</a:t>
            </a:r>
          </a:p>
        </p:txBody>
      </p:sp>
      <p:sp>
        <p:nvSpPr>
          <p:cNvPr id="47" name="Rectangle 46"/>
          <p:cNvSpPr/>
          <p:nvPr/>
        </p:nvSpPr>
        <p:spPr>
          <a:xfrm>
            <a:off x="3017520" y="3977639"/>
            <a:ext cx="612648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0">
                <a:solidFill>
                  <a:srgbClr val="4A5568"/>
                </a:solidFill>
                <a:latin typeface="Aptos"/>
              </a:rPr>
              <a:t>Car Market Trends Analysis • Car Dekho Dataset</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549</TotalTime>
  <Words>36</Words>
  <Application>Microsoft Office PowerPoint</Application>
  <PresentationFormat>Widescreen</PresentationFormat>
  <Paragraphs>13</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 Market Trends Analysis Using Car Dekho Data</dc:title>
  <dc:creator>Shruti Gangadhar Kale</dc:creator>
  <cp:lastModifiedBy>hp</cp:lastModifiedBy>
  <cp:revision>73</cp:revision>
  <dcterms:created xsi:type="dcterms:W3CDTF">2021-07-11T13:13:15Z</dcterms:created>
  <dcterms:modified xsi:type="dcterms:W3CDTF">2023-12-29T05:01:43Z</dcterms:modified>
  <dc:subject>Data Analytics Internship Project</dc:subject>
  <cp:keywords>Car Dekho, Data Analysis, Python, Pandas, Matplotlib, Google Colab</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